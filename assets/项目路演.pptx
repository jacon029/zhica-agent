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智采Agent的项目路演。今天，我将向大家展示一款革命性的AI采购专家智能体。它旨在解决传统采购流程中的核心痛点，通过Coze平台，结合大语言模型和RAG技术，实现从非结构化的采购需求到最终智能供应商推荐的全链路自动化。让我们一起探索这个激动人心的项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深入了解我们的解决方案之前，让我们先看看传统采购面临的困境。经过两年的一线经验洞察，我们发现了三大结构性矛盾：需求侧信息碎片化，供给侧数据离散，以及效率侧决策链路冗长。这些问题导致单次需求处理耗时超过30分钟，人工提取参数的遗漏率高达22%。我们的核心洞察是，采购的源头环节，即从需求到寻源，是最适合用AI进行颠覆性改造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具体来说，采购源头环节存在三大效率黑洞。首先是需求不规范，导致参数遗漏率高达22%。其次是筛选效率低下，每次筛选平均耗时超过30分钟。最后是缺乏有效的合规校验，导致返工成本占到采购总成本的5%。这些痛点共同构成了巨大的效率瓶颈，亟待解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针对这些痛点，我们提出了基于大语言模型的AI采购专家Agent方案。它的核心思路是将非结构化的需求，通过大模型进行结构化解析，再利用RAG技术进行智能匹配，最后生成可解释的推荐报告并以PDF形式交付。整个过程分为需求结构化、供应商智能匹配和结果标准化交付三个阶段，最终实现降本、提效和赋能的核心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基于Coze平台设计的三工作流编排架构。整个流程从用户输入开始，经过需求结构化、供应商匹配，最终生成PDF报告交付结果。下方的三个卡片详细展示了每个工作流的具体输入、处理逻辑和输出。这套架构确保了整个采购流程的自动化和标准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核心能力提升，很大程度上得益于对Prompt的持续迭代。通过从V1.0的原生Prompt，到V2.0引入Few-shot示例，再到V3.0加入CoT思维链，我们的字段提取准确率从75%稳步提升到了92%。这个过程是数据驱动的，每一次迭代都有明确的实验数据支撑。下方的策略矩阵展示了我们采用的多种Prompt优化策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科学地评估我们的模型效果，我们建立了分层评测体系和策略对照实验。我们将评测场景分为L1标准、L2缺失字段和L3专业三个层次。右侧的实验结果清晰地表明，结合了Few-shot和CoT的双策略实验组D表现最佳，准确率达到了96%，并且保证了流程合规。这套评测体系为我们的持续优化提供了坚实的数据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明确产品的边界至关重要。我们清晰地定义了V1.0版本能做什么和不能做什么。我们的AI擅长处理信息、匹配和推荐，但最终的业务决策、数据操作和外部交互仍需由人来完成。同时，我们通过数据脱敏、安全存储和明确的结果提示，建立了完善的合规与风控策略，确保产品的安全可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让我们总结一下项目的亮点和未来的进阶路线。我们的项目由深刻的行业洞察驱动，拥有完整的产品闭环、科学的评测体系和扎实的工程实践能力，并且产品边界清晰。展望未来，我们计划从当前的L3多场景可用，逐步迈向L4多场景泛化，最终实现L5准产品级的远期愿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我的介绍到此结束，感谢大家的聆听。智采Agent已经作为Coze Bot上线，欢迎大家体验。我们不仅有高达92%的字段提取准确率，还有完整的PRD文档和演示视频供大家参考。我们致力于成为能主导复杂AI链路的硬核AI产品经理。谢谢大家！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6.xml" Type="http://schemas.openxmlformats.org/officeDocument/2006/relationships/notesSlid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notesSlides/notesSlide10.xml" Type="http://schemas.openxmlformats.org/officeDocument/2006/relationships/notesSlide"/><Relationship Id="rId9" Target="../media/image3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270000" y="2032000"/>
            <a:ext cx="863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智采Agent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270000" y="3048000"/>
            <a:ext cx="1270000" cy="762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70000" y="3429000"/>
            <a:ext cx="863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AI采购专家智能体 · 项目路演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4318000"/>
            <a:ext cx="863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Coze平台深度定制，融合LLM大语言模型与RAG检索增强生成技术，针对企业级采购场景V1.0打造，实现从非结构化需求识别、智能解析到精准供应商推荐的全链路自动化闭环，重塑采购业务流程效率，大幅降低人工决策成本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5842000"/>
            <a:ext cx="1905000" cy="609600"/>
          </a:xfrm>
          <a:prstGeom prst="roundRect">
            <a:avLst>
              <a:gd name="adj" fmla="val 20833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采购需求结构化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429000" y="5842000"/>
            <a:ext cx="1905000" cy="609600"/>
          </a:xfrm>
          <a:prstGeom prst="roundRect">
            <a:avLst>
              <a:gd name="adj" fmla="val 20833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RAG供应商匹配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588000" y="5842000"/>
            <a:ext cx="1905000" cy="609600"/>
          </a:xfrm>
          <a:prstGeom prst="roundRect">
            <a:avLst>
              <a:gd name="adj" fmla="val 20833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自动化评测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747000" y="5842000"/>
            <a:ext cx="1905000" cy="609600"/>
          </a:xfrm>
          <a:prstGeom prst="roundRect">
            <a:avLst>
              <a:gd name="adj" fmla="val 20833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飞书机器人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传统采购的数字化转型机遇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1430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2年采购一线经验洞察 | 为什么这个场景值得用AI重构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635004" y="164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A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635000" y="2032000"/>
            <a:ext cx="5334000" cy="1270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2032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1590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需求侧：信息源头碎片化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2603500"/>
            <a:ext cx="4953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业务需求多以微信、口头、邮件等非结构化形式提交，格式混乱且信息不全。人工整理耗时费力，原始需求难以追溯，极易引发后期交付纠纷与责任推诿。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" y="3556000"/>
            <a:ext cx="5334000" cy="1270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" y="3556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7A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36830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供给侧：供应商数据离散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9000" y="4127500"/>
            <a:ext cx="4953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上百家供应商数据散落在Excel、ERP及员工记忆中，人工比价需跨系统翻阅，极度依赖个人经验。新人上手周期长达3个月以上，知识沉淀与复用效率极低。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" y="5080000"/>
            <a:ext cx="5334000" cy="1270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" y="5080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7A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9000" y="52070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效率侧：决策链路冗长低效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9000" y="5651500"/>
            <a:ext cx="4953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从需求受理到供应商推荐平均耗时超30分钟，采购员日均处理30+需求，超2.5小时被重复性整理与检索工作占用，核心决策精力被严重稀释。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366000" y="25400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6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30+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366000" y="3429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单次需求处理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平均耗时(分钟)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779000" y="25400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6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22%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779000" y="3429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人工提取关键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参数遗漏率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366000" y="46990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6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250+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366000" y="5588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沉淀于知识库的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历史供应商数据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779000" y="46990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6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3+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779000" y="5588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新人熟悉供应商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体系的上手周期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痛点：采购源头环节的三大效率黑洞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007A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1778000"/>
            <a:ext cx="3175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" y="1778000"/>
            <a:ext cx="3175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2095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20574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需求不规范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6370" flipH="false" flipV="false">
            <a:off x="889015" y="2787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825500" y="3048000"/>
            <a:ext cx="279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无标准化提报模板，依赖口头或微信沟通；规格、交期、预算等关键字段常缺失，导致事后无法审计，供需纠纷无据可查。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" y="5651500"/>
            <a:ext cx="3175000" cy="825500"/>
          </a:xfrm>
          <a:prstGeom prst="roundRect">
            <a:avLst>
              <a:gd name="adj" fmla="val 0"/>
            </a:avLst>
          </a:prstGeom>
          <a:solidFill>
            <a:srgbClr val="007A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778500"/>
            <a:ext cx="2921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参数遗漏率高达</a:t>
            </a: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22%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1778000"/>
            <a:ext cx="3175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81500" y="1778000"/>
            <a:ext cx="3175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2095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143500" y="20574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筛选效率低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6370" flipH="false" flipV="false">
            <a:off x="4635515" y="2787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572000" y="3048000"/>
            <a:ext cx="279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供应商库体量庞大，人工进行多维度筛选与比价耗时极长；业务高度依赖老员工经验，人员流动易造成业务断层与效率骤降。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381500" y="5651500"/>
            <a:ext cx="3175000" cy="825500"/>
          </a:xfrm>
          <a:prstGeom prst="roundRect">
            <a:avLst>
              <a:gd name="adj" fmla="val 0"/>
            </a:avLst>
          </a:prstGeom>
          <a:solidFill>
            <a:srgbClr val="007A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508500" y="5778500"/>
            <a:ext cx="2921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单次筛选平均耗时</a:t>
            </a: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30+分钟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28000" y="1778000"/>
            <a:ext cx="3175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28000" y="1778000"/>
            <a:ext cx="3175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0955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8890000" y="20574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合规无校验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6370" flipH="false" flipV="false">
            <a:off x="8382015" y="2787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8318500" y="3048000"/>
            <a:ext cx="279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无法自动排查供应商资质与黑名单风险；合同、订单、发票的一致性需人工比对，账期与信用风险往往在事后才被动发现。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128000" y="5651500"/>
            <a:ext cx="3175000" cy="825500"/>
          </a:xfrm>
          <a:prstGeom prst="roundRect">
            <a:avLst>
              <a:gd name="adj" fmla="val 0"/>
            </a:avLst>
          </a:prstGeom>
          <a:solidFill>
            <a:srgbClr val="007A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255000" y="5778500"/>
            <a:ext cx="2921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返工成本占采购总成本</a:t>
            </a: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5%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方案：基于LLM的AI采购专家Agent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007A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89000" y="1371600"/>
            <a:ext cx="10414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核心思路：将非结构化采购需求通过大模型解析为标准字段，结合RAG技术进行多源供应商智能匹配，最终生成可解释的推荐结论并以标准化PDF报告形式交付，全流程自动化闭环。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50800" cy="304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23876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需求结构化解析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323" flipH="false" flipV="false">
            <a:off x="762013" y="2978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62000" y="3175000"/>
            <a:ext cx="304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微信聊天、邮件、语音转写等各类非结构化输入，利用LLM精准提取品类、规格、数量、交期、预算等核心关键字段；针对信息缺失项自动发起智能追问，补全后输出标准、规范的结构化采购清单，为后续智能匹配筑牢数据基础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5207000"/>
            <a:ext cx="3048000" cy="457200"/>
          </a:xfrm>
          <a:prstGeom prst="roundRect">
            <a:avLst>
              <a:gd name="adj" fmla="val 0"/>
            </a:avLst>
          </a:prstGeom>
          <a:solidFill>
            <a:srgbClr val="007A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53086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Procurement_demand_structuring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2413000"/>
            <a:ext cx="50800" cy="304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23876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供应商智能匹配RAG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4323" flipH="false" flipV="false">
            <a:off x="4572013" y="2978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572000" y="3175000"/>
            <a:ext cx="304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以标准化清单JSON为输入源，优先通过RAG技术检索内部250+优质供应商库；若匹配结果不足，系统自动联网抓取1688、企业官网等公开渠道数据，基于价格、交期、质量、账期建立多维度加权评分模型，输出Top3推荐结果并附带可解释的匹配依据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72000" y="5207000"/>
            <a:ext cx="3048000" cy="457200"/>
          </a:xfrm>
          <a:prstGeom prst="roundRect">
            <a:avLst>
              <a:gd name="adj" fmla="val 0"/>
            </a:avLst>
          </a:prstGeom>
          <a:solidFill>
            <a:srgbClr val="007A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72000" y="53086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Intelligent_supplier_screening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2413000"/>
            <a:ext cx="50800" cy="304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509000" y="23876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标准化结果PDF交付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4323" flipH="false" flipV="false">
            <a:off x="8382013" y="2978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382000" y="3175000"/>
            <a:ext cx="304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筛选后的Top3供应商信息以结构化表格直观呈现，清晰罗列综合评分、单价、交期及匹配逻辑；用户确认后可一键生成合规PDF报告，同时自动附加AI生成的风险提示语，保障报告的专业性与合规性，支持直接归档或跨部门流转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382000" y="5207000"/>
            <a:ext cx="3048000" cy="457200"/>
          </a:xfrm>
          <a:prstGeom prst="roundRect">
            <a:avLst>
              <a:gd name="adj" fmla="val 0"/>
            </a:avLst>
          </a:prstGeom>
          <a:solidFill>
            <a:srgbClr val="007A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382000" y="53086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Pdf_product_standardization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4092" flipH="false" flipV="false">
            <a:off x="762004" y="596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4" id="2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6159500"/>
            <a:ext cx="254000" cy="2540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143000" y="61214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降本提效：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释放采购员30%工作时间，聚焦核心决策。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6159500"/>
            <a:ext cx="254000" cy="2540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4953000" y="61214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极速响应：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需求处理周期从30min压缩至5min以内。</a:t>
            </a:r>
            <a:endParaRPr lang="en-US" sz="1100"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6159500"/>
            <a:ext cx="254000" cy="2540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8763000" y="61214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新人赋能：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降低经验门槛，AI辅助让新人快速上手。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工作流：Coze平台三工作流编排架构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2413000" cy="1778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2413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17780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01 用户输入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20221" flipH="false" flipV="false">
            <a:off x="889019" y="2216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889000" y="2413000"/>
            <a:ext cx="215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支持微信、邮件、语音、备注等多渠道的非结构化需求采集。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71744" flipH="false" flipV="false">
            <a:off x="3302159" y="24066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AF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3683000" y="1524000"/>
            <a:ext cx="2413000" cy="1778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683000" y="1524000"/>
            <a:ext cx="2413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810000" y="17780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02 需求结构化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20221" flipH="false" flipV="false">
            <a:off x="3810019" y="2216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3810000" y="2413000"/>
            <a:ext cx="215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将自然语言解析为标准JSON清单，明确品类、数量、规格及交期。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71744" flipH="false" flipV="false">
            <a:off x="6223159" y="24066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AF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604000" y="1524000"/>
            <a:ext cx="2413000" cy="1778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1524000"/>
            <a:ext cx="2413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31000" y="17780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03 供应商匹配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20221" flipH="false" flipV="false">
            <a:off x="6731019" y="2216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731000" y="2413000"/>
            <a:ext cx="215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融合内部供应商库与全网资源，通过多维度加权算法筛选最优候选。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71744" flipH="false" flipV="false">
            <a:off x="9144159" y="24066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AF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9525000" y="1524000"/>
            <a:ext cx="1905000" cy="1778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525000" y="1524000"/>
            <a:ext cx="1905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652000" y="1778000"/>
            <a:ext cx="165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04 报告生成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26443" flipH="false" flipV="false">
            <a:off x="9652024" y="22161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9652000" y="2413000"/>
            <a:ext cx="165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自动整合结果与建议，一键生成标准化PDF报告。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4092" flipH="false" flipV="false">
            <a:off x="762004" y="380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762000" y="4191000"/>
            <a:ext cx="3302000" cy="2159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4381500"/>
            <a:ext cx="254000" cy="2540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1270000" y="43561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需求结构化：从自然语言到JSON</a:t>
            </a:r>
            <a:endParaRPr lang="en-US" sz="1100"/>
          </a:p>
        </p:txBody>
      </p:sp>
      <p:cxnSp>
        <p:nvCxnSpPr>
          <p:cNvPr name="Connector 30" id="30"/>
          <p:cNvCxnSpPr/>
          <p:nvPr/>
        </p:nvCxnSpPr>
        <p:spPr>
          <a:xfrm rot="-14946" flipH="false" flipV="false">
            <a:off x="952514" y="47942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1" id="31"/>
          <p:cNvSpPr/>
          <p:nvPr/>
        </p:nvSpPr>
        <p:spPr>
          <a:xfrm rot="0" flipH="false" flipV="false">
            <a:off x="952500" y="49276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输入示例：“办公室要10包A4纸，70g的，下周用”。系统自动提取信息转化为结构化数据：</a:t>
            </a:r>
            <a:r>
              <a:rPr lang="en-US" b="false" i="false" strike="noStrike" u="none" sz="11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{"品类":"A4纸","数量":10,"规格":"70g","交期":"下周"}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4445000" y="4191000"/>
            <a:ext cx="3302000" cy="2159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4381500"/>
            <a:ext cx="254000" cy="2540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4953000" y="43561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智能筛选：RAG+全网双源匹配</a:t>
            </a:r>
            <a:endParaRPr lang="en-US" sz="1100"/>
          </a:p>
        </p:txBody>
      </p:sp>
      <p:cxnSp>
        <p:nvCxnSpPr>
          <p:cNvPr name="Connector 35" id="35"/>
          <p:cNvCxnSpPr/>
          <p:nvPr/>
        </p:nvCxnSpPr>
        <p:spPr>
          <a:xfrm rot="-14946" flipH="false" flipV="false">
            <a:off x="4635514" y="47942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6" id="36"/>
          <p:cNvSpPr/>
          <p:nvPr/>
        </p:nvSpPr>
        <p:spPr>
          <a:xfrm rot="0" flipH="false" flipV="false">
            <a:off x="4635500" y="49276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优先检索内部250+供应商库，不足时联网补充；基于价格、交期等多维度加权评分，输出Top3候选，保障决策科学性。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128000" y="4191000"/>
            <a:ext cx="3302000" cy="2159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18500" y="4381500"/>
            <a:ext cx="254000" cy="254000"/>
          </a:xfrm>
          <a:prstGeom prst="rect">
            <a:avLst/>
          </a:prstGeom>
        </p:spPr>
      </p:pic>
      <p:sp>
        <p:nvSpPr>
          <p:cNvPr name="AutoShape 39" id="39"/>
          <p:cNvSpPr/>
          <p:nvPr/>
        </p:nvSpPr>
        <p:spPr>
          <a:xfrm rot="0" flipH="false" flipV="false">
            <a:off x="8636000" y="43561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结果交付：标准化PDF一键生成</a:t>
            </a:r>
            <a:endParaRPr lang="en-US" sz="1100"/>
          </a:p>
        </p:txBody>
      </p:sp>
      <p:cxnSp>
        <p:nvCxnSpPr>
          <p:cNvPr name="Connector 40" id="40"/>
          <p:cNvCxnSpPr/>
          <p:nvPr/>
        </p:nvCxnSpPr>
        <p:spPr>
          <a:xfrm rot="-14946" flipH="false" flipV="false">
            <a:off x="8318514" y="47942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1" id="41"/>
          <p:cNvSpPr/>
          <p:nvPr/>
        </p:nvSpPr>
        <p:spPr>
          <a:xfrm rot="0" flipH="false" flipV="false">
            <a:off x="8318500" y="49276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用户确认后，系统一键整合信息生成规范PDF报告并支持直接发送，附带“AI生成仅供参考”提示，兼顾效率与合规。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Prompt迭代：从75% → 92%的三版本进化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A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048000" cy="2794000"/>
          </a:xfrm>
          <a:prstGeom prst="roundRect">
            <a:avLst>
              <a:gd name="adj" fmla="val 0"/>
            </a:avLst>
          </a:prstGeom>
          <a:solidFill>
            <a:srgbClr val="F0F8FF">
              <a:alpha val="100000"/>
            </a:srgbClr>
          </a:solidFill>
          <a:ln cmpd="sng" cap="flat">
            <a:solidFill>
              <a:srgbClr val="C1D4E6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048000" cy="381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905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54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75%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98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V1.0 原生Prompt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3429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仅使用基础字段提取指令，无示例参考与推理引导，易出现字段遗漏、格式不固定及内容幻觉问题。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18000" y="1651000"/>
            <a:ext cx="3048000" cy="2794000"/>
          </a:xfrm>
          <a:prstGeom prst="roundRect">
            <a:avLst>
              <a:gd name="adj" fmla="val 0"/>
            </a:avLst>
          </a:prstGeom>
          <a:solidFill>
            <a:srgbClr val="F0F8FF">
              <a:alpha val="100000"/>
            </a:srgbClr>
          </a:solidFill>
          <a:ln cmpd="sng" cap="flat">
            <a:solidFill>
              <a:srgbClr val="C1D4E6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18000" y="1651000"/>
            <a:ext cx="3048000" cy="381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1905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54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88%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298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V2.0 +Few-shot示例学习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3429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加入3个覆盖通用、非标、服务场景的静态示例，大幅提升口语化理解能力，有效减少格式错误与偏差。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874000" y="1651000"/>
            <a:ext cx="3048000" cy="2794000"/>
          </a:xfrm>
          <a:prstGeom prst="roundRect">
            <a:avLst>
              <a:gd name="adj" fmla="val 0"/>
            </a:avLst>
          </a:prstGeom>
          <a:solidFill>
            <a:srgbClr val="F0F8FF">
              <a:alpha val="100000"/>
            </a:srgbClr>
          </a:solidFill>
          <a:ln cmpd="sng" cap="flat">
            <a:solidFill>
              <a:srgbClr val="C1D4E6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874000" y="1651000"/>
            <a:ext cx="3048000" cy="381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1905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54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92%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298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V3.0 +CoT思维链推理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01000" y="3429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强制模型分步推理输出，100%解决信息逐步引用难题，幻觉率显著降低，实现双重策略的最优效果。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4092" flipH="false" flipV="false">
            <a:off x="762004" y="469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A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762000" y="4889500"/>
            <a:ext cx="2413000" cy="1651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5054600"/>
            <a:ext cx="228600" cy="228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206500" y="50292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Few-shot 示例库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20221" flipH="false" flipV="false">
            <a:off x="889019" y="5454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889000" y="5588000"/>
            <a:ext cx="215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配置3个典型静态示例，覆盖口语、模糊表述及三关输入类型，快速校准模型输出逻辑。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556000" y="4889500"/>
            <a:ext cx="2413000" cy="1651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683000" y="5054600"/>
            <a:ext cx="228600" cy="2286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4000500" y="50292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CoT 思维链引导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20221" flipH="false" flipV="false">
            <a:off x="3683019" y="5454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3683000" y="5588000"/>
            <a:ext cx="215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强制“需求→粒度→排序”分步推理，彻底解决信息逐步引用问题，大幅降低内容幻觉率。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350000" y="4889500"/>
            <a:ext cx="2413000" cy="1651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77000" y="5054600"/>
            <a:ext cx="228600" cy="2286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6794500" y="50292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JSON Schema 约束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-20221" flipH="false" flipV="false">
            <a:off x="6477019" y="5454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6477000" y="5588000"/>
            <a:ext cx="215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定义7个核心必验字段：品名、规格、数量、单位、交期、交付地、预算，实现结构化输出校验。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9144000" y="4889500"/>
            <a:ext cx="2413000" cy="1651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271000" y="5054600"/>
            <a:ext cx="228600" cy="228600"/>
          </a:xfrm>
          <a:prstGeom prst="rect">
            <a:avLst/>
          </a:prstGeom>
        </p:spPr>
      </p:pic>
      <p:sp>
        <p:nvSpPr>
          <p:cNvPr name="AutoShape 37" id="37"/>
          <p:cNvSpPr/>
          <p:nvPr/>
        </p:nvSpPr>
        <p:spPr>
          <a:xfrm rot="0" flipH="false" flipV="false">
            <a:off x="9588500" y="50292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多步紧随式编排</a:t>
            </a:r>
            <a:endParaRPr lang="en-US" sz="1100"/>
          </a:p>
        </p:txBody>
      </p:sp>
      <p:cxnSp>
        <p:nvCxnSpPr>
          <p:cNvPr name="Connector 38" id="38"/>
          <p:cNvCxnSpPr/>
          <p:nvPr/>
        </p:nvCxnSpPr>
        <p:spPr>
          <a:xfrm rot="-20221" flipH="false" flipV="false">
            <a:off x="9271019" y="5454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9" id="39"/>
          <p:cNvSpPr/>
          <p:nvPr/>
        </p:nvSpPr>
        <p:spPr>
          <a:xfrm rot="0" flipH="false" flipV="false">
            <a:off x="9271000" y="5588000"/>
            <a:ext cx="215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采用“需求结构化→结果校验→一键生成”三段式策略，通过隐式判断实现精准的交付内容生成。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数据：分层评测体系&amp;策略对照实验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06500"/>
            <a:ext cx="11176000" cy="12700"/>
          </a:xfrm>
          <a:prstGeom prst="roundRect">
            <a:avLst>
              <a:gd name="adj" fmla="val 0"/>
            </a:avLst>
          </a:prstGeom>
          <a:solidFill>
            <a:srgbClr val="007A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1590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L1 标准场景 (15+条)</a:t>
            </a:r>
            <a:r>
              <a:rPr lang="en-US" b="fals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覆盖字段齐全、表述规范的典型业务用例，作为模型基础能力的基准验证。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6830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L2 缺失字段 (20+条)</a:t>
            </a:r>
            <a:r>
              <a:rPr lang="en-US" b="fals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包含口语化表达、关键信息模糊或缺失的复杂场景，测试信息补全与意图识别。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50800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L3 专业场景 + 异常拒识</a:t>
            </a:r>
            <a:r>
              <a:rPr lang="en-US" b="fals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涵盖工业材料、专业参数等深度场景；包含异常、闲聊及涉密内容的拒识测试。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604000" y="2159000"/>
            <a:ext cx="114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实验分组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001000" y="2159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Prompt策略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287000" y="2159000"/>
            <a:ext cx="101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准确率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0" y="2159000"/>
            <a:ext cx="101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流程合规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2921000"/>
            <a:ext cx="114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对照组A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29210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原生基础Prompt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287000" y="2921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82%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1430000" y="2921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✗ 缺调用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3810000"/>
            <a:ext cx="114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实验组B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38100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+Few-shot 示例学习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287000" y="3810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88%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1430000" y="3810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✗ 未追问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4699000"/>
            <a:ext cx="114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实验组C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001000" y="46990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+仅CoT 思维链引导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287000" y="4699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90%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1430000" y="4699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✓ 合规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540500" y="5397500"/>
            <a:ext cx="5080000" cy="635000"/>
          </a:xfrm>
          <a:prstGeom prst="roundRect">
            <a:avLst>
              <a:gd name="adj" fmla="val 0"/>
            </a:avLst>
          </a:prstGeom>
          <a:solidFill>
            <a:srgbClr val="007AFF">
              <a:alpha val="8000"/>
            </a:srgbClr>
          </a:solidFill>
          <a:ln w="12700" cmpd="sng" cap="flat">
            <a:solidFill>
              <a:srgbClr val="007AFF">
                <a:alpha val="4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604000" y="5461000"/>
            <a:ext cx="114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实验组D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001000" y="54864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Few-shot + CoT 双策略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287000" y="5461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96%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1430000" y="5461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✓ 合规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边界：产品定位&amp;能力范围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79500"/>
            <a:ext cx="1066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明确定义V1.0能做什么、不能做什么，规避风险、管理预期，确保产品能力与业务需求精准匹配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080000" cy="558800"/>
          </a:xfrm>
          <a:prstGeom prst="roundRect">
            <a:avLst>
              <a:gd name="adj" fmla="val 0"/>
            </a:avLst>
          </a:prstGeom>
          <a:solidFill>
            <a:srgbClr val="007A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14400" y="1905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1854200"/>
            <a:ext cx="431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当前版本 (V1.0) 可实现能力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667000"/>
            <a:ext cx="2413000" cy="1079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667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14400" y="2730500"/>
            <a:ext cx="215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非结构化需求智能识别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自动识别多源采购需求文本，提取关键信息并转化为标准JSON结构化数据，减少人工录入成本。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000500"/>
            <a:ext cx="2413000" cy="1079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0005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14400" y="4064000"/>
            <a:ext cx="215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多维评分与智能推荐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基于价格、交期、质量、账期等维度加权评分，自动生成Top3供应商推荐，附带可解释理由。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207000"/>
            <a:ext cx="2413000" cy="1079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207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14400" y="5270500"/>
            <a:ext cx="215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多端集成与便捷输出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接入飞书机器人实现IM直接调用，支持结构化表格展示与PDF一键导出，提升协作效率。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429000" y="2667000"/>
            <a:ext cx="2413000" cy="1079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429000" y="2667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581400" y="2730500"/>
            <a:ext cx="215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内外部供应商智能匹配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优先基于RAG知识库匹配250+内部供应商，匹配不足时自动触发联网搜索补充外部资源。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429000" y="4000500"/>
            <a:ext cx="2413000" cy="1079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429000" y="40005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581400" y="4064000"/>
            <a:ext cx="215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输入安全与交互补全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智能拒识异常、涉密输入内容，针对缺失关键字段主动追问补全，确保数据输入的合规性。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429000" y="5207000"/>
            <a:ext cx="2413000" cy="1079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429000" y="5207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581400" y="5270500"/>
            <a:ext cx="215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全流程可追溯管理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记录需求处理、供应商匹配、推荐生成的全流程日志，便于后续复盘与审计，保障过程透明。</a:t>
            </a:r>
          </a:p>
        </p:txBody>
      </p:sp>
      <p:cxnSp>
        <p:nvCxnSpPr>
          <p:cNvPr name="Connector 25" id="25"/>
          <p:cNvCxnSpPr/>
          <p:nvPr/>
        </p:nvCxnSpPr>
        <p:spPr>
          <a:xfrm rot="5390450" flipH="false" flipV="false">
            <a:off x="3937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6477000" y="1778000"/>
            <a:ext cx="4445000" cy="558800"/>
          </a:xfrm>
          <a:prstGeom prst="roundRect">
            <a:avLst>
              <a:gd name="adj" fmla="val 0"/>
            </a:avLst>
          </a:prstGeom>
          <a:solidFill>
            <a:srgbClr val="007A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29400" y="1905000"/>
            <a:ext cx="304800" cy="3048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7048500" y="18542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当前版本 (V1.0) 不可实现边界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477000" y="2667000"/>
            <a:ext cx="4445000" cy="1270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477000" y="2667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629400" y="2730500"/>
            <a:ext cx="419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不参与业务决策与商务承诺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仅提供信息服务，不可替代人工做出最终采购决策；不直接承诺供应商价格、账期等商务条款，避免越权风险。</a:t>
            </a:r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477000" y="4127500"/>
            <a:ext cx="4445000" cy="1270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477000" y="41275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629400" y="4191000"/>
            <a:ext cx="419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不操作核心数据与业务系统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不可修改、新增或删除内部供应商库数据；不直接读写ERP/OA等核心业务系统，仅通过接口获取脱敏后的只读数据。</a:t>
            </a:r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477000" y="5588000"/>
            <a:ext cx="4445000" cy="952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477000" y="5588000"/>
            <a:ext cx="50800" cy="9525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629400" y="5651500"/>
            <a:ext cx="4191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无直接外部交互与完全风险兜底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不直接向供应商发送询价邮件；无法保证100%无AI幻觉，所有输出结果均标注“AI生成，仅供参考”，需人工复核。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总结：项目亮点&amp;进阶路线图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5390708" flipH="false" flipV="false">
            <a:off x="3873500" y="3994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A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4953000" cy="1079500"/>
          </a:xfrm>
          <a:prstGeom prst="roundRect">
            <a:avLst>
              <a:gd name="adj" fmla="val 0"/>
            </a:avLst>
          </a:prstGeom>
          <a:solidFill>
            <a:srgbClr val="007A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714500"/>
            <a:ext cx="457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01 行业洞察驱动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结合2年采购一线实战经验与AI产品方案设计，精准锚定业务核心痛点，让技术落地更贴合真实业务场景需求。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921000"/>
            <a:ext cx="4953000" cy="1079500"/>
          </a:xfrm>
          <a:prstGeom prst="roundRect">
            <a:avLst>
              <a:gd name="adj" fmla="val 0"/>
            </a:avLst>
          </a:prstGeom>
          <a:solidFill>
            <a:srgbClr val="007A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92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2984500"/>
            <a:ext cx="457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02 完整产品闭环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构建“非结构化解析→JSON标准化→RAG检索增强→联网兜底补全→自动化PDF报告生成”的全链路处理闭环，流程无断点。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191000"/>
            <a:ext cx="4953000" cy="1079500"/>
          </a:xfrm>
          <a:prstGeom prst="roundRect">
            <a:avLst>
              <a:gd name="adj" fmla="val 0"/>
            </a:avLst>
          </a:prstGeom>
          <a:solidFill>
            <a:srgbClr val="007A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19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4254500"/>
            <a:ext cx="457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03 科学评测体系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设计50+分面测试用例，开展多轮策略对照实验，通过6项核心指标量化评估，实现问答准确率稳定达到92%的高水平。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461000"/>
            <a:ext cx="2349500" cy="1079500"/>
          </a:xfrm>
          <a:prstGeom prst="roundRect">
            <a:avLst>
              <a:gd name="adj" fmla="val 0"/>
            </a:avLst>
          </a:prstGeom>
          <a:solidFill>
            <a:srgbClr val="007A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46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2500" y="5524500"/>
            <a:ext cx="203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04 工程实践能力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落地Coze三工作流，融合Few-shot与CoT，编写自动化脚本提效。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365500" y="5461000"/>
            <a:ext cx="2349500" cy="1079500"/>
          </a:xfrm>
          <a:prstGeom prst="roundRect">
            <a:avLst>
              <a:gd name="adj" fmla="val 0"/>
            </a:avLst>
          </a:prstGeom>
          <a:solidFill>
            <a:srgbClr val="007A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365500" y="546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556000" y="5524500"/>
            <a:ext cx="203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05 产品边界清晰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明确能力范围，前置风险提示，建立合规兜底方案。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731000" y="2032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366000" y="1968500"/>
            <a:ext cx="406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L3 多场景可用 (当前冲刺中)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聚焦MRO工业品核心品类，深度优化GPT+Prompt工程，强化复杂参数与型号匹配理解，完成核心场景跑通验证。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31000" y="35560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366000" y="3492500"/>
            <a:ext cx="406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L4 多场景泛化 (下一阶段目标)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完成多品类策略模块化编排，建立标准化Prompt库与知识库，实现向多行业、多品类场景快速复制适配。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731000" y="4953000"/>
            <a:ext cx="406400" cy="406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366000" y="48895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L5 准产品级 (远期愿景)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实现多轮对话与长期记忆，构建用户反馈闭环，结合业务数据迭代，达成准产品级落地标准。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731000" y="59690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核心技术栈：</a:t>
            </a: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Code, DeepSeek/GPT-4o-mini, RAG, Few-shot, CoT, Python, Claude, 飞书生态集成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4445000"/>
            <a:ext cx="3810000" cy="3810000"/>
          </a:xfrm>
          <a:prstGeom prst="ellipse">
            <a:avLst/>
          </a:prstGeom>
          <a:solidFill>
            <a:srgbClr val="007A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-1016000"/>
            <a:ext cx="3048000" cy="3048000"/>
          </a:xfrm>
          <a:prstGeom prst="ellipse">
            <a:avLst/>
          </a:prstGeom>
          <a:solidFill>
            <a:srgbClr val="007AF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651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2857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3175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智采Agent — AI采购专家智能体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191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007AF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191000"/>
            <a:ext cx="50800" cy="17780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24000" y="43815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Coze Bot 已上线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626" flipH="false" flipV="false">
            <a:off x="1016014" y="494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1016000" y="5080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支持飞书机器人无缝接入企业内部系统，开箱即用，助力采购业务流程智能化落地。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4191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007AF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45000" y="4191000"/>
            <a:ext cx="50800" cy="17780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43815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207000" y="43815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字段提取准确率 92%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626" flipH="false" flipV="false">
            <a:off x="4699014" y="494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4699000" y="5080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通过50+分层评测用例严格验证，覆盖250+真实供应商数据，保障信息解析的精准度。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4191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007AF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28000" y="4191000"/>
            <a:ext cx="50800" cy="17780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43815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8890000" y="43815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全套标准化交付资产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5626" flipH="false" flipV="false">
            <a:off x="8382014" y="494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8382000" y="5080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沉淀完整PRD文档、Prompt迭代全记录、评测数据集及Demo演示视频，可复用可扩展。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0" y="6477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“从低代码AI产品经理 → 能主导复杂AI链路的硬核AI产品经理”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{"Label":"1","ContentProducer":"001191110102MACQD9K64010000","ProduceID":"7650474527063739361","ReservedCode1":"","ContentPropagator":"","PropagateID":"","ReservedCode2":""}</vt:lpwstr>
  </property>
</Properties>
</file>